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League Spartan" charset="1" panose="00000800000000000000"/>
      <p:regular r:id="rId13"/>
    </p:embeddedFont>
    <p:embeddedFont>
      <p:font typeface="DG Jory" charset="1" panose="0200000000000000000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5001320"/>
            <a:ext cx="3660173" cy="5285680"/>
          </a:xfrm>
          <a:custGeom>
            <a:avLst/>
            <a:gdLst/>
            <a:ahLst/>
            <a:cxnLst/>
            <a:rect r="r" b="b" t="t" l="l"/>
            <a:pathLst>
              <a:path h="5285680" w="3660173">
                <a:moveTo>
                  <a:pt x="0" y="0"/>
                </a:moveTo>
                <a:lnTo>
                  <a:pt x="3660173" y="0"/>
                </a:lnTo>
                <a:lnTo>
                  <a:pt x="3660173" y="5285680"/>
                </a:lnTo>
                <a:lnTo>
                  <a:pt x="0" y="5285680"/>
                </a:lnTo>
                <a:lnTo>
                  <a:pt x="0" y="0"/>
                </a:lnTo>
                <a:close/>
              </a:path>
            </a:pathLst>
          </a:custGeom>
          <a:blipFill>
            <a:blip r:embed="rId2">
              <a:extLst>
                <a:ext uri="{96DAC541-7B7A-43D3-8B79-37D633B846F1}">
                  <asvg:svgBlip xmlns:asvg="http://schemas.microsoft.com/office/drawing/2016/SVG/main" r:embed="rId3"/>
                </a:ext>
              </a:extLst>
            </a:blip>
            <a:stretch>
              <a:fillRect l="-101087" t="0" r="0" b="-26081"/>
            </a:stretch>
          </a:blipFill>
        </p:spPr>
      </p:sp>
      <p:sp>
        <p:nvSpPr>
          <p:cNvPr name="Freeform 3" id="3"/>
          <p:cNvSpPr/>
          <p:nvPr/>
        </p:nvSpPr>
        <p:spPr>
          <a:xfrm flipH="true" flipV="true" rot="10770000">
            <a:off x="13877633" y="-19094"/>
            <a:ext cx="4427447" cy="3971746"/>
          </a:xfrm>
          <a:custGeom>
            <a:avLst/>
            <a:gdLst/>
            <a:ahLst/>
            <a:cxnLst/>
            <a:rect r="r" b="b" t="t" l="l"/>
            <a:pathLst>
              <a:path h="3971746" w="4427447">
                <a:moveTo>
                  <a:pt x="34326" y="0"/>
                </a:moveTo>
                <a:lnTo>
                  <a:pt x="4427447" y="38338"/>
                </a:lnTo>
                <a:lnTo>
                  <a:pt x="4393120" y="3971746"/>
                </a:lnTo>
                <a:lnTo>
                  <a:pt x="0" y="3933407"/>
                </a:lnTo>
                <a:lnTo>
                  <a:pt x="34326" y="0"/>
                </a:lnTo>
                <a:close/>
              </a:path>
            </a:pathLst>
          </a:custGeom>
          <a:blipFill>
            <a:blip r:embed="rId2">
              <a:extLst>
                <a:ext uri="{96DAC541-7B7A-43D3-8B79-37D633B846F1}">
                  <asvg:svgBlip xmlns:asvg="http://schemas.microsoft.com/office/drawing/2016/SVG/main" r:embed="rId3"/>
                </a:ext>
              </a:extLst>
            </a:blip>
            <a:stretch>
              <a:fillRect l="-49" t="-67517" r="-76355" b="-10535"/>
            </a:stretch>
          </a:blipFill>
        </p:spPr>
      </p:sp>
      <p:sp>
        <p:nvSpPr>
          <p:cNvPr name="Freeform 4" id="4"/>
          <p:cNvSpPr/>
          <p:nvPr/>
        </p:nvSpPr>
        <p:spPr>
          <a:xfrm flipH="false" flipV="false" rot="0">
            <a:off x="14627274" y="6339564"/>
            <a:ext cx="3660726" cy="3947436"/>
          </a:xfrm>
          <a:custGeom>
            <a:avLst/>
            <a:gdLst/>
            <a:ahLst/>
            <a:cxnLst/>
            <a:rect r="r" b="b" t="t" l="l"/>
            <a:pathLst>
              <a:path h="3947436" w="3660726">
                <a:moveTo>
                  <a:pt x="0" y="0"/>
                </a:moveTo>
                <a:lnTo>
                  <a:pt x="3660726" y="0"/>
                </a:lnTo>
                <a:lnTo>
                  <a:pt x="3660726" y="3947436"/>
                </a:lnTo>
                <a:lnTo>
                  <a:pt x="0" y="3947436"/>
                </a:lnTo>
                <a:lnTo>
                  <a:pt x="0" y="0"/>
                </a:lnTo>
                <a:close/>
              </a:path>
            </a:pathLst>
          </a:custGeom>
          <a:blipFill>
            <a:blip r:embed="rId2">
              <a:extLst>
                <a:ext uri="{96DAC541-7B7A-43D3-8B79-37D633B846F1}">
                  <asvg:svgBlip xmlns:asvg="http://schemas.microsoft.com/office/drawing/2016/SVG/main" r:embed="rId3"/>
                </a:ext>
              </a:extLst>
            </a:blip>
            <a:stretch>
              <a:fillRect l="0" t="0" r="-101056" b="-68825"/>
            </a:stretch>
          </a:blipFill>
          <a:ln cap="sq">
            <a:noFill/>
            <a:prstDash val="solid"/>
            <a:miter/>
          </a:ln>
        </p:spPr>
      </p:sp>
      <p:sp>
        <p:nvSpPr>
          <p:cNvPr name="Freeform 5" id="5"/>
          <p:cNvSpPr/>
          <p:nvPr/>
        </p:nvSpPr>
        <p:spPr>
          <a:xfrm flipH="true" flipV="true" rot="0">
            <a:off x="0" y="0"/>
            <a:ext cx="4504698" cy="4078799"/>
          </a:xfrm>
          <a:custGeom>
            <a:avLst/>
            <a:gdLst/>
            <a:ahLst/>
            <a:cxnLst/>
            <a:rect r="r" b="b" t="t" l="l"/>
            <a:pathLst>
              <a:path h="4078799" w="4504698">
                <a:moveTo>
                  <a:pt x="4504698" y="4078799"/>
                </a:moveTo>
                <a:lnTo>
                  <a:pt x="0" y="4078799"/>
                </a:lnTo>
                <a:lnTo>
                  <a:pt x="0" y="0"/>
                </a:lnTo>
                <a:lnTo>
                  <a:pt x="4504698" y="0"/>
                </a:lnTo>
                <a:lnTo>
                  <a:pt x="4504698" y="4078799"/>
                </a:lnTo>
                <a:close/>
              </a:path>
            </a:pathLst>
          </a:custGeom>
          <a:blipFill>
            <a:blip r:embed="rId2">
              <a:extLst>
                <a:ext uri="{96DAC541-7B7A-43D3-8B79-37D633B846F1}">
                  <asvg:svgBlip xmlns:asvg="http://schemas.microsoft.com/office/drawing/2016/SVG/main" r:embed="rId3"/>
                </a:ext>
              </a:extLst>
            </a:blip>
            <a:stretch>
              <a:fillRect l="0" t="0" r="-63387" b="-63387"/>
            </a:stretch>
          </a:blipFill>
          <a:ln cap="sq">
            <a:noFill/>
            <a:prstDash val="solid"/>
            <a:miter/>
          </a:ln>
        </p:spPr>
      </p:sp>
      <p:sp>
        <p:nvSpPr>
          <p:cNvPr name="TextBox 6" id="6"/>
          <p:cNvSpPr txBox="true"/>
          <p:nvPr/>
        </p:nvSpPr>
        <p:spPr>
          <a:xfrm rot="0">
            <a:off x="2240099" y="3925837"/>
            <a:ext cx="13807802" cy="2953349"/>
          </a:xfrm>
          <a:prstGeom prst="rect">
            <a:avLst/>
          </a:prstGeom>
        </p:spPr>
        <p:txBody>
          <a:bodyPr anchor="t" rtlCol="false" tIns="0" lIns="0" bIns="0" rIns="0">
            <a:spAutoFit/>
          </a:bodyPr>
          <a:lstStyle/>
          <a:p>
            <a:pPr algn="ctr">
              <a:lnSpc>
                <a:spcPts val="7772"/>
              </a:lnSpc>
            </a:pPr>
            <a:r>
              <a:rPr lang="en-US" sz="6477">
                <a:solidFill>
                  <a:srgbClr val="000000"/>
                </a:solidFill>
                <a:latin typeface="League Spartan"/>
                <a:ea typeface="League Spartan"/>
                <a:cs typeface="League Spartan"/>
                <a:sym typeface="League Spartan"/>
              </a:rPr>
              <a:t>DATA COLLECTION, CLEANING, VISUALIZATION, AND ANALYSIS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893" y="4897467"/>
            <a:ext cx="3660173" cy="5338729"/>
          </a:xfrm>
          <a:custGeom>
            <a:avLst/>
            <a:gdLst/>
            <a:ahLst/>
            <a:cxnLst/>
            <a:rect r="r" b="b" t="t" l="l"/>
            <a:pathLst>
              <a:path h="5338729" w="3660173">
                <a:moveTo>
                  <a:pt x="0" y="0"/>
                </a:moveTo>
                <a:lnTo>
                  <a:pt x="3660174" y="0"/>
                </a:lnTo>
                <a:lnTo>
                  <a:pt x="3660174" y="5338729"/>
                </a:lnTo>
                <a:lnTo>
                  <a:pt x="0" y="5338729"/>
                </a:lnTo>
                <a:lnTo>
                  <a:pt x="0" y="0"/>
                </a:lnTo>
                <a:close/>
              </a:path>
            </a:pathLst>
          </a:custGeom>
          <a:blipFill>
            <a:blip r:embed="rId2">
              <a:extLst>
                <a:ext uri="{96DAC541-7B7A-43D3-8B79-37D633B846F1}">
                  <asvg:svgBlip xmlns:asvg="http://schemas.microsoft.com/office/drawing/2016/SVG/main" r:embed="rId3"/>
                </a:ext>
              </a:extLst>
            </a:blip>
            <a:stretch>
              <a:fillRect l="-101087" t="0" r="0" b="-24828"/>
            </a:stretch>
          </a:blipFill>
        </p:spPr>
      </p:sp>
      <p:sp>
        <p:nvSpPr>
          <p:cNvPr name="Freeform 3" id="3"/>
          <p:cNvSpPr/>
          <p:nvPr/>
        </p:nvSpPr>
        <p:spPr>
          <a:xfrm flipH="true" flipV="true" rot="0">
            <a:off x="14607933" y="-2211"/>
            <a:ext cx="3660726" cy="5404722"/>
          </a:xfrm>
          <a:custGeom>
            <a:avLst/>
            <a:gdLst/>
            <a:ahLst/>
            <a:cxnLst/>
            <a:rect r="r" b="b" t="t" l="l"/>
            <a:pathLst>
              <a:path h="5404722" w="3660726">
                <a:moveTo>
                  <a:pt x="3660726" y="5404723"/>
                </a:moveTo>
                <a:lnTo>
                  <a:pt x="0" y="5404723"/>
                </a:lnTo>
                <a:lnTo>
                  <a:pt x="0" y="0"/>
                </a:lnTo>
                <a:lnTo>
                  <a:pt x="3660726" y="0"/>
                </a:lnTo>
                <a:lnTo>
                  <a:pt x="3660726" y="5404723"/>
                </a:lnTo>
                <a:close/>
              </a:path>
            </a:pathLst>
          </a:custGeom>
          <a:blipFill>
            <a:blip r:embed="rId2">
              <a:extLst>
                <a:ext uri="{96DAC541-7B7A-43D3-8B79-37D633B846F1}">
                  <asvg:svgBlip xmlns:asvg="http://schemas.microsoft.com/office/drawing/2016/SVG/main" r:embed="rId3"/>
                </a:ext>
              </a:extLst>
            </a:blip>
            <a:stretch>
              <a:fillRect l="-101056" t="0" r="0" b="-23304"/>
            </a:stretch>
          </a:blipFill>
        </p:spPr>
      </p:sp>
      <p:sp>
        <p:nvSpPr>
          <p:cNvPr name="Freeform 4" id="4"/>
          <p:cNvSpPr/>
          <p:nvPr/>
        </p:nvSpPr>
        <p:spPr>
          <a:xfrm flipH="false" flipV="false" rot="0">
            <a:off x="14757022" y="6029979"/>
            <a:ext cx="3564685" cy="4206217"/>
          </a:xfrm>
          <a:custGeom>
            <a:avLst/>
            <a:gdLst/>
            <a:ahLst/>
            <a:cxnLst/>
            <a:rect r="r" b="b" t="t" l="l"/>
            <a:pathLst>
              <a:path h="4206217" w="3564685">
                <a:moveTo>
                  <a:pt x="0" y="0"/>
                </a:moveTo>
                <a:lnTo>
                  <a:pt x="3564686" y="0"/>
                </a:lnTo>
                <a:lnTo>
                  <a:pt x="3564686" y="4206217"/>
                </a:lnTo>
                <a:lnTo>
                  <a:pt x="0" y="4206217"/>
                </a:lnTo>
                <a:lnTo>
                  <a:pt x="0" y="0"/>
                </a:lnTo>
                <a:close/>
              </a:path>
            </a:pathLst>
          </a:custGeom>
          <a:blipFill>
            <a:blip r:embed="rId2">
              <a:extLst>
                <a:ext uri="{96DAC541-7B7A-43D3-8B79-37D633B846F1}">
                  <asvg:svgBlip xmlns:asvg="http://schemas.microsoft.com/office/drawing/2016/SVG/main" r:embed="rId3"/>
                </a:ext>
              </a:extLst>
            </a:blip>
            <a:stretch>
              <a:fillRect l="0" t="0" r="-106473" b="-58438"/>
            </a:stretch>
          </a:blipFill>
          <a:ln cap="sq">
            <a:noFill/>
            <a:prstDash val="solid"/>
            <a:miter/>
          </a:ln>
        </p:spPr>
      </p:sp>
      <p:sp>
        <p:nvSpPr>
          <p:cNvPr name="Freeform 5" id="5"/>
          <p:cNvSpPr/>
          <p:nvPr/>
        </p:nvSpPr>
        <p:spPr>
          <a:xfrm flipH="true" flipV="true" rot="0">
            <a:off x="19893" y="50838"/>
            <a:ext cx="3809263" cy="4206183"/>
          </a:xfrm>
          <a:custGeom>
            <a:avLst/>
            <a:gdLst/>
            <a:ahLst/>
            <a:cxnLst/>
            <a:rect r="r" b="b" t="t" l="l"/>
            <a:pathLst>
              <a:path h="4206183" w="3809263">
                <a:moveTo>
                  <a:pt x="3809263" y="4206183"/>
                </a:moveTo>
                <a:lnTo>
                  <a:pt x="0" y="4206183"/>
                </a:lnTo>
                <a:lnTo>
                  <a:pt x="0" y="0"/>
                </a:lnTo>
                <a:lnTo>
                  <a:pt x="3809263" y="0"/>
                </a:lnTo>
                <a:lnTo>
                  <a:pt x="3809263" y="4206183"/>
                </a:lnTo>
                <a:close/>
              </a:path>
            </a:pathLst>
          </a:custGeom>
          <a:blipFill>
            <a:blip r:embed="rId2">
              <a:extLst>
                <a:ext uri="{96DAC541-7B7A-43D3-8B79-37D633B846F1}">
                  <asvg:svgBlip xmlns:asvg="http://schemas.microsoft.com/office/drawing/2016/SVG/main" r:embed="rId3"/>
                </a:ext>
              </a:extLst>
            </a:blip>
            <a:stretch>
              <a:fillRect l="0" t="0" r="-93216" b="-58439"/>
            </a:stretch>
          </a:blipFill>
          <a:ln cap="sq">
            <a:noFill/>
            <a:prstDash val="solid"/>
            <a:miter/>
          </a:ln>
        </p:spPr>
      </p:sp>
      <p:grpSp>
        <p:nvGrpSpPr>
          <p:cNvPr name="Group 6" id="6"/>
          <p:cNvGrpSpPr/>
          <p:nvPr/>
        </p:nvGrpSpPr>
        <p:grpSpPr>
          <a:xfrm rot="0">
            <a:off x="4830552" y="1028700"/>
            <a:ext cx="8626896" cy="2019318"/>
            <a:chOff x="0" y="0"/>
            <a:chExt cx="11502528" cy="2692424"/>
          </a:xfrm>
        </p:grpSpPr>
        <p:grpSp>
          <p:nvGrpSpPr>
            <p:cNvPr name="Group 7" id="7"/>
            <p:cNvGrpSpPr/>
            <p:nvPr/>
          </p:nvGrpSpPr>
          <p:grpSpPr>
            <a:xfrm rot="0">
              <a:off x="0" y="0"/>
              <a:ext cx="11502528" cy="2364429"/>
              <a:chOff x="0" y="0"/>
              <a:chExt cx="3954128" cy="812800"/>
            </a:xfrm>
          </p:grpSpPr>
          <p:sp>
            <p:nvSpPr>
              <p:cNvPr name="Freeform 8" id="8"/>
              <p:cNvSpPr/>
              <p:nvPr/>
            </p:nvSpPr>
            <p:spPr>
              <a:xfrm flipH="false" flipV="false" rot="0">
                <a:off x="0" y="0"/>
                <a:ext cx="3954128" cy="812800"/>
              </a:xfrm>
              <a:custGeom>
                <a:avLst/>
                <a:gdLst/>
                <a:ahLst/>
                <a:cxnLst/>
                <a:rect r="r" b="b" t="t" l="l"/>
                <a:pathLst>
                  <a:path h="812800" w="3954128">
                    <a:moveTo>
                      <a:pt x="3954128" y="0"/>
                    </a:moveTo>
                    <a:lnTo>
                      <a:pt x="0" y="0"/>
                    </a:lnTo>
                    <a:lnTo>
                      <a:pt x="0" y="624840"/>
                    </a:lnTo>
                    <a:lnTo>
                      <a:pt x="157480" y="624840"/>
                    </a:lnTo>
                    <a:lnTo>
                      <a:pt x="157480" y="812800"/>
                    </a:lnTo>
                    <a:lnTo>
                      <a:pt x="463550" y="624840"/>
                    </a:lnTo>
                    <a:lnTo>
                      <a:pt x="3954128" y="624840"/>
                    </a:lnTo>
                    <a:lnTo>
                      <a:pt x="3954128" y="0"/>
                    </a:lnTo>
                    <a:close/>
                  </a:path>
                </a:pathLst>
              </a:custGeom>
              <a:solidFill>
                <a:srgbClr val="9BDAE9"/>
              </a:solidFill>
              <a:ln cap="sq">
                <a:noFill/>
                <a:prstDash val="solid"/>
                <a:miter/>
              </a:ln>
            </p:spPr>
          </p:sp>
          <p:sp>
            <p:nvSpPr>
              <p:cNvPr name="TextBox 9" id="9"/>
              <p:cNvSpPr txBox="true"/>
              <p:nvPr/>
            </p:nvSpPr>
            <p:spPr>
              <a:xfrm>
                <a:off x="0" y="-47625"/>
                <a:ext cx="3954128" cy="66992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0" y="138416"/>
              <a:ext cx="11502528" cy="2554008"/>
              <a:chOff x="0" y="0"/>
              <a:chExt cx="3954128" cy="877970"/>
            </a:xfrm>
          </p:grpSpPr>
          <p:sp>
            <p:nvSpPr>
              <p:cNvPr name="Freeform 11" id="11"/>
              <p:cNvSpPr/>
              <p:nvPr/>
            </p:nvSpPr>
            <p:spPr>
              <a:xfrm flipH="false" flipV="false" rot="0">
                <a:off x="0" y="0"/>
                <a:ext cx="3954128" cy="877970"/>
              </a:xfrm>
              <a:custGeom>
                <a:avLst/>
                <a:gdLst/>
                <a:ahLst/>
                <a:cxnLst/>
                <a:rect r="r" b="b" t="t" l="l"/>
                <a:pathLst>
                  <a:path h="877970" w="3954128">
                    <a:moveTo>
                      <a:pt x="3954128" y="0"/>
                    </a:moveTo>
                    <a:lnTo>
                      <a:pt x="0" y="0"/>
                    </a:lnTo>
                    <a:lnTo>
                      <a:pt x="0" y="690010"/>
                    </a:lnTo>
                    <a:lnTo>
                      <a:pt x="157480" y="690010"/>
                    </a:lnTo>
                    <a:lnTo>
                      <a:pt x="157480" y="877970"/>
                    </a:lnTo>
                    <a:lnTo>
                      <a:pt x="463550" y="690010"/>
                    </a:lnTo>
                    <a:lnTo>
                      <a:pt x="3954128" y="690010"/>
                    </a:lnTo>
                    <a:lnTo>
                      <a:pt x="3954128" y="0"/>
                    </a:lnTo>
                    <a:close/>
                  </a:path>
                </a:pathLst>
              </a:custGeom>
              <a:ln w="66675" cap="sq">
                <a:solidFill>
                  <a:srgbClr val="56C3D0"/>
                </a:solidFill>
                <a:prstDash val="solid"/>
                <a:miter/>
              </a:ln>
            </p:spPr>
          </p:sp>
          <p:sp>
            <p:nvSpPr>
              <p:cNvPr name="TextBox 12" id="12"/>
              <p:cNvSpPr txBox="true"/>
              <p:nvPr/>
            </p:nvSpPr>
            <p:spPr>
              <a:xfrm>
                <a:off x="0" y="-47625"/>
                <a:ext cx="3954128" cy="73509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0" y="683139"/>
              <a:ext cx="11502528" cy="998152"/>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WHY DATA CLEANING?</a:t>
              </a:r>
            </a:p>
          </p:txBody>
        </p:sp>
      </p:grpSp>
      <p:grpSp>
        <p:nvGrpSpPr>
          <p:cNvPr name="Group 14" id="14"/>
          <p:cNvGrpSpPr/>
          <p:nvPr/>
        </p:nvGrpSpPr>
        <p:grpSpPr>
          <a:xfrm rot="0">
            <a:off x="3178658" y="3678836"/>
            <a:ext cx="11930683" cy="5579464"/>
            <a:chOff x="0" y="0"/>
            <a:chExt cx="15907578" cy="7439286"/>
          </a:xfrm>
        </p:grpSpPr>
        <p:sp>
          <p:nvSpPr>
            <p:cNvPr name="TextBox 15" id="15"/>
            <p:cNvSpPr txBox="true"/>
            <p:nvPr/>
          </p:nvSpPr>
          <p:spPr>
            <a:xfrm rot="0">
              <a:off x="1283004" y="-104775"/>
              <a:ext cx="13287525" cy="3235797"/>
            </a:xfrm>
            <a:prstGeom prst="rect">
              <a:avLst/>
            </a:prstGeom>
          </p:spPr>
          <p:txBody>
            <a:bodyPr anchor="t" rtlCol="false" tIns="0" lIns="0" bIns="0" rIns="0">
              <a:spAutoFit/>
            </a:bodyPr>
            <a:lstStyle/>
            <a:p>
              <a:pPr algn="l">
                <a:lnSpc>
                  <a:spcPts val="6520"/>
                </a:lnSpc>
              </a:pPr>
              <a:r>
                <a:rPr lang="en-US" sz="4657">
                  <a:solidFill>
                    <a:srgbClr val="000000"/>
                  </a:solidFill>
                  <a:latin typeface="DG Jory"/>
                  <a:ea typeface="DG Jory"/>
                  <a:cs typeface="DG Jory"/>
                  <a:sym typeface="DG Jory"/>
                </a:rPr>
                <a:t>Raw Data is very mess. It consist messy data like typos, empty values, duplicate values and various weird stuff.</a:t>
              </a:r>
            </a:p>
          </p:txBody>
        </p:sp>
        <p:sp>
          <p:nvSpPr>
            <p:cNvPr name="TextBox 16" id="16"/>
            <p:cNvSpPr txBox="true"/>
            <p:nvPr/>
          </p:nvSpPr>
          <p:spPr>
            <a:xfrm rot="0">
              <a:off x="1283004" y="4203489"/>
              <a:ext cx="13287525" cy="3235797"/>
            </a:xfrm>
            <a:prstGeom prst="rect">
              <a:avLst/>
            </a:prstGeom>
          </p:spPr>
          <p:txBody>
            <a:bodyPr anchor="t" rtlCol="false" tIns="0" lIns="0" bIns="0" rIns="0">
              <a:spAutoFit/>
            </a:bodyPr>
            <a:lstStyle/>
            <a:p>
              <a:pPr algn="l">
                <a:lnSpc>
                  <a:spcPts val="6520"/>
                </a:lnSpc>
              </a:pPr>
              <a:r>
                <a:rPr lang="en-US" sz="4657">
                  <a:solidFill>
                    <a:srgbClr val="000000"/>
                  </a:solidFill>
                  <a:latin typeface="DG Jory"/>
                  <a:ea typeface="DG Jory"/>
                  <a:cs typeface="DG Jory"/>
                  <a:sym typeface="DG Jory"/>
                </a:rPr>
                <a:t>So it is important to clean this type of data and make data nice so you can apply what you want do on that data.</a:t>
              </a:r>
            </a:p>
          </p:txBody>
        </p:sp>
        <p:sp>
          <p:nvSpPr>
            <p:cNvPr name="AutoShape 17" id="17"/>
            <p:cNvSpPr/>
            <p:nvPr/>
          </p:nvSpPr>
          <p:spPr>
            <a:xfrm>
              <a:off x="41" y="3548444"/>
              <a:ext cx="15907497" cy="25400"/>
            </a:xfrm>
            <a:prstGeom prst="line">
              <a:avLst/>
            </a:prstGeom>
            <a:ln cap="flat" w="50800">
              <a:solidFill>
                <a:srgbClr val="000000"/>
              </a:solidFill>
              <a:prstDash val="solid"/>
              <a:headEnd type="oval" len="lg" w="lg"/>
              <a:tailEnd type="oval" len="lg" w="lg"/>
            </a:ln>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3082137" y="50838"/>
            <a:ext cx="5133473" cy="7863966"/>
          </a:xfrm>
          <a:custGeom>
            <a:avLst/>
            <a:gdLst/>
            <a:ahLst/>
            <a:cxnLst/>
            <a:rect r="r" b="b" t="t" l="l"/>
            <a:pathLst>
              <a:path h="7863966" w="5133473">
                <a:moveTo>
                  <a:pt x="5133473" y="7863966"/>
                </a:moveTo>
                <a:lnTo>
                  <a:pt x="0" y="7863966"/>
                </a:lnTo>
                <a:lnTo>
                  <a:pt x="0" y="0"/>
                </a:lnTo>
                <a:lnTo>
                  <a:pt x="5133473" y="0"/>
                </a:lnTo>
                <a:lnTo>
                  <a:pt x="5133473" y="7863966"/>
                </a:lnTo>
                <a:close/>
              </a:path>
            </a:pathLst>
          </a:custGeom>
          <a:blipFill>
            <a:blip r:embed="rId2">
              <a:extLst>
                <a:ext uri="{96DAC541-7B7A-43D3-8B79-37D633B846F1}">
                  <asvg:svgBlip xmlns:asvg="http://schemas.microsoft.com/office/drawing/2016/SVG/main" r:embed="rId3"/>
                </a:ext>
              </a:extLst>
            </a:blip>
            <a:stretch>
              <a:fillRect l="-80929" t="0" r="0" b="-6941"/>
            </a:stretch>
          </a:blipFill>
        </p:spPr>
      </p:sp>
      <p:sp>
        <p:nvSpPr>
          <p:cNvPr name="Freeform 3" id="3"/>
          <p:cNvSpPr/>
          <p:nvPr/>
        </p:nvSpPr>
        <p:spPr>
          <a:xfrm flipH="false" flipV="false" rot="0">
            <a:off x="14607933" y="8362464"/>
            <a:ext cx="3689245" cy="1798555"/>
          </a:xfrm>
          <a:custGeom>
            <a:avLst/>
            <a:gdLst/>
            <a:ahLst/>
            <a:cxnLst/>
            <a:rect r="r" b="b" t="t" l="l"/>
            <a:pathLst>
              <a:path h="1798555" w="3689245">
                <a:moveTo>
                  <a:pt x="0" y="0"/>
                </a:moveTo>
                <a:lnTo>
                  <a:pt x="3689246" y="0"/>
                </a:lnTo>
                <a:lnTo>
                  <a:pt x="3689246" y="1798555"/>
                </a:lnTo>
                <a:lnTo>
                  <a:pt x="0" y="1798555"/>
                </a:lnTo>
                <a:lnTo>
                  <a:pt x="0" y="0"/>
                </a:lnTo>
                <a:close/>
              </a:path>
            </a:pathLst>
          </a:custGeom>
          <a:blipFill>
            <a:blip r:embed="rId2">
              <a:extLst>
                <a:ext uri="{96DAC541-7B7A-43D3-8B79-37D633B846F1}">
                  <asvg:svgBlip xmlns:asvg="http://schemas.microsoft.com/office/drawing/2016/SVG/main" r:embed="rId3"/>
                </a:ext>
              </a:extLst>
            </a:blip>
            <a:stretch>
              <a:fillRect l="0" t="0" r="-99502" b="-270534"/>
            </a:stretch>
          </a:blipFill>
          <a:ln cap="sq">
            <a:noFill/>
            <a:prstDash val="solid"/>
            <a:miter/>
          </a:ln>
        </p:spPr>
      </p:sp>
      <p:sp>
        <p:nvSpPr>
          <p:cNvPr name="Freeform 4" id="4"/>
          <p:cNvSpPr/>
          <p:nvPr/>
        </p:nvSpPr>
        <p:spPr>
          <a:xfrm flipH="true" flipV="false" rot="0">
            <a:off x="8303269" y="9258300"/>
            <a:ext cx="7360133" cy="1071877"/>
          </a:xfrm>
          <a:custGeom>
            <a:avLst/>
            <a:gdLst/>
            <a:ahLst/>
            <a:cxnLst/>
            <a:rect r="r" b="b" t="t" l="l"/>
            <a:pathLst>
              <a:path h="1071877" w="7360133">
                <a:moveTo>
                  <a:pt x="7360133" y="0"/>
                </a:moveTo>
                <a:lnTo>
                  <a:pt x="0" y="0"/>
                </a:lnTo>
                <a:lnTo>
                  <a:pt x="0" y="1071877"/>
                </a:lnTo>
                <a:lnTo>
                  <a:pt x="7360133" y="1071877"/>
                </a:lnTo>
                <a:lnTo>
                  <a:pt x="7360133" y="0"/>
                </a:lnTo>
                <a:close/>
              </a:path>
            </a:pathLst>
          </a:custGeom>
          <a:blipFill>
            <a:blip r:embed="rId2">
              <a:extLst>
                <a:ext uri="{96DAC541-7B7A-43D3-8B79-37D633B846F1}">
                  <asvg:svgBlip xmlns:asvg="http://schemas.microsoft.com/office/drawing/2016/SVG/main" r:embed="rId3"/>
                </a:ext>
              </a:extLst>
            </a:blip>
            <a:stretch>
              <a:fillRect l="0" t="0" r="0" b="-521737"/>
            </a:stretch>
          </a:blipFill>
          <a:ln cap="sq">
            <a:noFill/>
            <a:prstDash val="solid"/>
            <a:miter/>
          </a:ln>
        </p:spPr>
      </p:sp>
      <p:sp>
        <p:nvSpPr>
          <p:cNvPr name="TextBox 5" id="5"/>
          <p:cNvSpPr txBox="true"/>
          <p:nvPr/>
        </p:nvSpPr>
        <p:spPr>
          <a:xfrm rot="0">
            <a:off x="688552" y="3554133"/>
            <a:ext cx="15229433" cy="5697825"/>
          </a:xfrm>
          <a:prstGeom prst="rect">
            <a:avLst/>
          </a:prstGeom>
        </p:spPr>
        <p:txBody>
          <a:bodyPr anchor="t" rtlCol="false" tIns="0" lIns="0" bIns="0" rIns="0">
            <a:spAutoFit/>
          </a:bodyPr>
          <a:lstStyle/>
          <a:p>
            <a:pPr algn="l">
              <a:lnSpc>
                <a:spcPts val="5671"/>
              </a:lnSpc>
            </a:pPr>
            <a:r>
              <a:rPr lang="en-US" sz="4051">
                <a:solidFill>
                  <a:srgbClr val="000000"/>
                </a:solidFill>
                <a:latin typeface="DG Jory"/>
                <a:ea typeface="DG Jory"/>
                <a:cs typeface="DG Jory"/>
                <a:sym typeface="DG Jory"/>
              </a:rPr>
              <a:t>When we get data it have mistakes that we have to fix manually. In this data there is many empty values and we have to decide in that if we have to delete that entire row or we have to fill that with average number so we don’t lose that row. and we have to also check the name of values are same like “IND” and “India” are all changed with only one name so computer doesn’t think they are different countries. and we also check for impossible values like someone accidently put their age -25 and 200 and we have to either fix them or delete them so they don’t mess with our math</a:t>
            </a:r>
          </a:p>
        </p:txBody>
      </p:sp>
      <p:grpSp>
        <p:nvGrpSpPr>
          <p:cNvPr name="Group 6" id="6"/>
          <p:cNvGrpSpPr/>
          <p:nvPr/>
        </p:nvGrpSpPr>
        <p:grpSpPr>
          <a:xfrm rot="0">
            <a:off x="518405" y="1132508"/>
            <a:ext cx="13660458" cy="1915506"/>
            <a:chOff x="0" y="0"/>
            <a:chExt cx="18213944" cy="2554008"/>
          </a:xfrm>
        </p:grpSpPr>
        <p:grpSp>
          <p:nvGrpSpPr>
            <p:cNvPr name="Group 7" id="7"/>
            <p:cNvGrpSpPr/>
            <p:nvPr/>
          </p:nvGrpSpPr>
          <p:grpSpPr>
            <a:xfrm rot="0">
              <a:off x="0" y="0"/>
              <a:ext cx="18213944" cy="2364429"/>
              <a:chOff x="0" y="0"/>
              <a:chExt cx="6261255" cy="812800"/>
            </a:xfrm>
          </p:grpSpPr>
          <p:sp>
            <p:nvSpPr>
              <p:cNvPr name="Freeform 8" id="8"/>
              <p:cNvSpPr/>
              <p:nvPr/>
            </p:nvSpPr>
            <p:spPr>
              <a:xfrm flipH="false" flipV="false" rot="0">
                <a:off x="0" y="0"/>
                <a:ext cx="6261255" cy="812800"/>
              </a:xfrm>
              <a:custGeom>
                <a:avLst/>
                <a:gdLst/>
                <a:ahLst/>
                <a:cxnLst/>
                <a:rect r="r" b="b" t="t" l="l"/>
                <a:pathLst>
                  <a:path h="812800" w="6261255">
                    <a:moveTo>
                      <a:pt x="6261255" y="0"/>
                    </a:moveTo>
                    <a:lnTo>
                      <a:pt x="0" y="0"/>
                    </a:lnTo>
                    <a:lnTo>
                      <a:pt x="0" y="624840"/>
                    </a:lnTo>
                    <a:lnTo>
                      <a:pt x="157480" y="624840"/>
                    </a:lnTo>
                    <a:lnTo>
                      <a:pt x="157480" y="812800"/>
                    </a:lnTo>
                    <a:lnTo>
                      <a:pt x="463550" y="624840"/>
                    </a:lnTo>
                    <a:lnTo>
                      <a:pt x="6261255" y="624840"/>
                    </a:lnTo>
                    <a:lnTo>
                      <a:pt x="6261255" y="0"/>
                    </a:lnTo>
                    <a:close/>
                  </a:path>
                </a:pathLst>
              </a:custGeom>
              <a:solidFill>
                <a:srgbClr val="9BDAE9"/>
              </a:solidFill>
              <a:ln cap="sq">
                <a:noFill/>
                <a:prstDash val="solid"/>
                <a:miter/>
              </a:ln>
            </p:spPr>
          </p:sp>
          <p:sp>
            <p:nvSpPr>
              <p:cNvPr name="TextBox 9" id="9"/>
              <p:cNvSpPr txBox="true"/>
              <p:nvPr/>
            </p:nvSpPr>
            <p:spPr>
              <a:xfrm>
                <a:off x="0" y="-47625"/>
                <a:ext cx="6261255" cy="66992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0" y="189578"/>
              <a:ext cx="18213944" cy="2364429"/>
              <a:chOff x="0" y="0"/>
              <a:chExt cx="6261255" cy="812800"/>
            </a:xfrm>
          </p:grpSpPr>
          <p:sp>
            <p:nvSpPr>
              <p:cNvPr name="Freeform 11" id="11"/>
              <p:cNvSpPr/>
              <p:nvPr/>
            </p:nvSpPr>
            <p:spPr>
              <a:xfrm flipH="false" flipV="false" rot="0">
                <a:off x="0" y="0"/>
                <a:ext cx="6261255" cy="812800"/>
              </a:xfrm>
              <a:custGeom>
                <a:avLst/>
                <a:gdLst/>
                <a:ahLst/>
                <a:cxnLst/>
                <a:rect r="r" b="b" t="t" l="l"/>
                <a:pathLst>
                  <a:path h="812800" w="6261255">
                    <a:moveTo>
                      <a:pt x="6261255" y="0"/>
                    </a:moveTo>
                    <a:lnTo>
                      <a:pt x="0" y="0"/>
                    </a:lnTo>
                    <a:lnTo>
                      <a:pt x="0" y="624840"/>
                    </a:lnTo>
                    <a:lnTo>
                      <a:pt x="157480" y="624840"/>
                    </a:lnTo>
                    <a:lnTo>
                      <a:pt x="157480" y="812800"/>
                    </a:lnTo>
                    <a:lnTo>
                      <a:pt x="463550" y="624840"/>
                    </a:lnTo>
                    <a:lnTo>
                      <a:pt x="6261255" y="624840"/>
                    </a:lnTo>
                    <a:lnTo>
                      <a:pt x="6261255" y="0"/>
                    </a:lnTo>
                    <a:close/>
                  </a:path>
                </a:pathLst>
              </a:custGeom>
              <a:ln w="66675" cap="sq">
                <a:solidFill>
                  <a:srgbClr val="56C3D0"/>
                </a:solidFill>
                <a:prstDash val="solid"/>
                <a:miter/>
              </a:ln>
            </p:spPr>
          </p:sp>
          <p:sp>
            <p:nvSpPr>
              <p:cNvPr name="TextBox 12" id="12"/>
              <p:cNvSpPr txBox="true"/>
              <p:nvPr/>
            </p:nvSpPr>
            <p:spPr>
              <a:xfrm>
                <a:off x="0" y="-47625"/>
                <a:ext cx="6261255" cy="66992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880229" y="626817"/>
              <a:ext cx="15926503" cy="998152"/>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HOW WE ACTUALLY FIX THE DATA</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1454" y="4897467"/>
            <a:ext cx="3460112" cy="5432711"/>
          </a:xfrm>
          <a:custGeom>
            <a:avLst/>
            <a:gdLst/>
            <a:ahLst/>
            <a:cxnLst/>
            <a:rect r="r" b="b" t="t" l="l"/>
            <a:pathLst>
              <a:path h="5432711" w="3460112">
                <a:moveTo>
                  <a:pt x="0" y="0"/>
                </a:moveTo>
                <a:lnTo>
                  <a:pt x="3460112" y="0"/>
                </a:lnTo>
                <a:lnTo>
                  <a:pt x="3460112" y="5432710"/>
                </a:lnTo>
                <a:lnTo>
                  <a:pt x="0" y="5432710"/>
                </a:lnTo>
                <a:lnTo>
                  <a:pt x="0" y="0"/>
                </a:lnTo>
                <a:close/>
              </a:path>
            </a:pathLst>
          </a:custGeom>
          <a:blipFill>
            <a:blip r:embed="rId2">
              <a:extLst>
                <a:ext uri="{96DAC541-7B7A-43D3-8B79-37D633B846F1}">
                  <asvg:svgBlip xmlns:asvg="http://schemas.microsoft.com/office/drawing/2016/SVG/main" r:embed="rId3"/>
                </a:ext>
              </a:extLst>
            </a:blip>
            <a:stretch>
              <a:fillRect l="-112713" t="0" r="0" b="-22669"/>
            </a:stretch>
          </a:blipFill>
        </p:spPr>
      </p:sp>
      <p:sp>
        <p:nvSpPr>
          <p:cNvPr name="Freeform 3" id="3"/>
          <p:cNvSpPr/>
          <p:nvPr/>
        </p:nvSpPr>
        <p:spPr>
          <a:xfrm flipH="true" flipV="true" rot="0">
            <a:off x="14607933" y="-42544"/>
            <a:ext cx="3742194" cy="5445056"/>
          </a:xfrm>
          <a:custGeom>
            <a:avLst/>
            <a:gdLst/>
            <a:ahLst/>
            <a:cxnLst/>
            <a:rect r="r" b="b" t="t" l="l"/>
            <a:pathLst>
              <a:path h="5445056" w="3742194">
                <a:moveTo>
                  <a:pt x="3742194" y="5445056"/>
                </a:moveTo>
                <a:lnTo>
                  <a:pt x="0" y="5445056"/>
                </a:lnTo>
                <a:lnTo>
                  <a:pt x="0" y="0"/>
                </a:lnTo>
                <a:lnTo>
                  <a:pt x="3742194" y="0"/>
                </a:lnTo>
                <a:lnTo>
                  <a:pt x="3742194" y="5445056"/>
                </a:lnTo>
                <a:close/>
              </a:path>
            </a:pathLst>
          </a:custGeom>
          <a:blipFill>
            <a:blip r:embed="rId2">
              <a:extLst>
                <a:ext uri="{96DAC541-7B7A-43D3-8B79-37D633B846F1}">
                  <asvg:svgBlip xmlns:asvg="http://schemas.microsoft.com/office/drawing/2016/SVG/main" r:embed="rId3"/>
                </a:ext>
              </a:extLst>
            </a:blip>
            <a:stretch>
              <a:fillRect l="-96679" t="0" r="0" b="-22391"/>
            </a:stretch>
          </a:blipFill>
        </p:spPr>
      </p:sp>
      <p:sp>
        <p:nvSpPr>
          <p:cNvPr name="Freeform 4" id="4"/>
          <p:cNvSpPr/>
          <p:nvPr/>
        </p:nvSpPr>
        <p:spPr>
          <a:xfrm flipH="false" flipV="false" rot="0">
            <a:off x="15007164" y="6749135"/>
            <a:ext cx="3278134" cy="3581042"/>
          </a:xfrm>
          <a:custGeom>
            <a:avLst/>
            <a:gdLst/>
            <a:ahLst/>
            <a:cxnLst/>
            <a:rect r="r" b="b" t="t" l="l"/>
            <a:pathLst>
              <a:path h="3581042" w="3278134">
                <a:moveTo>
                  <a:pt x="0" y="0"/>
                </a:moveTo>
                <a:lnTo>
                  <a:pt x="3278133" y="0"/>
                </a:lnTo>
                <a:lnTo>
                  <a:pt x="3278133" y="3581042"/>
                </a:lnTo>
                <a:lnTo>
                  <a:pt x="0" y="3581042"/>
                </a:lnTo>
                <a:lnTo>
                  <a:pt x="0" y="0"/>
                </a:lnTo>
                <a:close/>
              </a:path>
            </a:pathLst>
          </a:custGeom>
          <a:blipFill>
            <a:blip r:embed="rId2">
              <a:extLst>
                <a:ext uri="{96DAC541-7B7A-43D3-8B79-37D633B846F1}">
                  <asvg:svgBlip xmlns:asvg="http://schemas.microsoft.com/office/drawing/2016/SVG/main" r:embed="rId3"/>
                </a:ext>
              </a:extLst>
            </a:blip>
            <a:stretch>
              <a:fillRect l="0" t="0" r="-124522" b="-86098"/>
            </a:stretch>
          </a:blipFill>
          <a:ln cap="sq">
            <a:noFill/>
            <a:prstDash val="solid"/>
            <a:miter/>
          </a:ln>
        </p:spPr>
      </p:sp>
      <p:sp>
        <p:nvSpPr>
          <p:cNvPr name="Freeform 5" id="5"/>
          <p:cNvSpPr/>
          <p:nvPr/>
        </p:nvSpPr>
        <p:spPr>
          <a:xfrm flipH="true" flipV="true" rot="0">
            <a:off x="68205" y="22285"/>
            <a:ext cx="3749882" cy="4025871"/>
          </a:xfrm>
          <a:custGeom>
            <a:avLst/>
            <a:gdLst/>
            <a:ahLst/>
            <a:cxnLst/>
            <a:rect r="r" b="b" t="t" l="l"/>
            <a:pathLst>
              <a:path h="4025871" w="3749882">
                <a:moveTo>
                  <a:pt x="3749882" y="4025872"/>
                </a:moveTo>
                <a:lnTo>
                  <a:pt x="0" y="4025872"/>
                </a:lnTo>
                <a:lnTo>
                  <a:pt x="0" y="0"/>
                </a:lnTo>
                <a:lnTo>
                  <a:pt x="3749882" y="0"/>
                </a:lnTo>
                <a:lnTo>
                  <a:pt x="3749882" y="4025872"/>
                </a:lnTo>
                <a:close/>
              </a:path>
            </a:pathLst>
          </a:custGeom>
          <a:blipFill>
            <a:blip r:embed="rId2">
              <a:extLst>
                <a:ext uri="{96DAC541-7B7A-43D3-8B79-37D633B846F1}">
                  <asvg:svgBlip xmlns:asvg="http://schemas.microsoft.com/office/drawing/2016/SVG/main" r:embed="rId3"/>
                </a:ext>
              </a:extLst>
            </a:blip>
            <a:stretch>
              <a:fillRect l="0" t="0" r="-96276" b="-65535"/>
            </a:stretch>
          </a:blipFill>
          <a:ln cap="sq">
            <a:noFill/>
            <a:prstDash val="solid"/>
            <a:miter/>
          </a:ln>
        </p:spPr>
      </p:sp>
      <p:grpSp>
        <p:nvGrpSpPr>
          <p:cNvPr name="Group 6" id="6"/>
          <p:cNvGrpSpPr/>
          <p:nvPr/>
        </p:nvGrpSpPr>
        <p:grpSpPr>
          <a:xfrm rot="0">
            <a:off x="4113362" y="716023"/>
            <a:ext cx="10198022" cy="2701505"/>
            <a:chOff x="0" y="0"/>
            <a:chExt cx="13597363" cy="3602006"/>
          </a:xfrm>
        </p:grpSpPr>
        <p:grpSp>
          <p:nvGrpSpPr>
            <p:cNvPr name="Group 7" id="7"/>
            <p:cNvGrpSpPr/>
            <p:nvPr/>
          </p:nvGrpSpPr>
          <p:grpSpPr>
            <a:xfrm rot="0">
              <a:off x="0" y="0"/>
              <a:ext cx="13282300" cy="3334637"/>
              <a:chOff x="0" y="0"/>
              <a:chExt cx="4565945" cy="1146320"/>
            </a:xfrm>
          </p:grpSpPr>
          <p:sp>
            <p:nvSpPr>
              <p:cNvPr name="Freeform 8" id="8"/>
              <p:cNvSpPr/>
              <p:nvPr/>
            </p:nvSpPr>
            <p:spPr>
              <a:xfrm flipH="false" flipV="false" rot="0">
                <a:off x="0" y="0"/>
                <a:ext cx="4565945" cy="1146320"/>
              </a:xfrm>
              <a:custGeom>
                <a:avLst/>
                <a:gdLst/>
                <a:ahLst/>
                <a:cxnLst/>
                <a:rect r="r" b="b" t="t" l="l"/>
                <a:pathLst>
                  <a:path h="1146320" w="4565945">
                    <a:moveTo>
                      <a:pt x="4565945" y="0"/>
                    </a:moveTo>
                    <a:lnTo>
                      <a:pt x="0" y="0"/>
                    </a:lnTo>
                    <a:lnTo>
                      <a:pt x="0" y="958360"/>
                    </a:lnTo>
                    <a:lnTo>
                      <a:pt x="157480" y="958360"/>
                    </a:lnTo>
                    <a:lnTo>
                      <a:pt x="157480" y="1146320"/>
                    </a:lnTo>
                    <a:lnTo>
                      <a:pt x="463550" y="958360"/>
                    </a:lnTo>
                    <a:lnTo>
                      <a:pt x="4565945" y="958360"/>
                    </a:lnTo>
                    <a:lnTo>
                      <a:pt x="4565945" y="0"/>
                    </a:lnTo>
                    <a:close/>
                  </a:path>
                </a:pathLst>
              </a:custGeom>
              <a:solidFill>
                <a:srgbClr val="9BDAE9"/>
              </a:solidFill>
              <a:ln cap="sq">
                <a:noFill/>
                <a:prstDash val="solid"/>
                <a:miter/>
              </a:ln>
            </p:spPr>
          </p:sp>
          <p:sp>
            <p:nvSpPr>
              <p:cNvPr name="TextBox 9" id="9"/>
              <p:cNvSpPr txBox="true"/>
              <p:nvPr/>
            </p:nvSpPr>
            <p:spPr>
              <a:xfrm>
                <a:off x="0" y="-47625"/>
                <a:ext cx="4565945" cy="100344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315063" y="267369"/>
              <a:ext cx="13282300" cy="3334637"/>
              <a:chOff x="0" y="0"/>
              <a:chExt cx="4565945" cy="1146320"/>
            </a:xfrm>
          </p:grpSpPr>
          <p:sp>
            <p:nvSpPr>
              <p:cNvPr name="Freeform 11" id="11"/>
              <p:cNvSpPr/>
              <p:nvPr/>
            </p:nvSpPr>
            <p:spPr>
              <a:xfrm flipH="false" flipV="false" rot="0">
                <a:off x="0" y="0"/>
                <a:ext cx="4565945" cy="1146320"/>
              </a:xfrm>
              <a:custGeom>
                <a:avLst/>
                <a:gdLst/>
                <a:ahLst/>
                <a:cxnLst/>
                <a:rect r="r" b="b" t="t" l="l"/>
                <a:pathLst>
                  <a:path h="1146320" w="4565945">
                    <a:moveTo>
                      <a:pt x="4565945" y="0"/>
                    </a:moveTo>
                    <a:lnTo>
                      <a:pt x="0" y="0"/>
                    </a:lnTo>
                    <a:lnTo>
                      <a:pt x="0" y="958360"/>
                    </a:lnTo>
                    <a:lnTo>
                      <a:pt x="157480" y="958360"/>
                    </a:lnTo>
                    <a:lnTo>
                      <a:pt x="157480" y="1146320"/>
                    </a:lnTo>
                    <a:lnTo>
                      <a:pt x="463550" y="958360"/>
                    </a:lnTo>
                    <a:lnTo>
                      <a:pt x="4565945" y="958360"/>
                    </a:lnTo>
                    <a:lnTo>
                      <a:pt x="4565945" y="0"/>
                    </a:lnTo>
                    <a:close/>
                  </a:path>
                </a:pathLst>
              </a:custGeom>
              <a:ln w="66675" cap="sq">
                <a:solidFill>
                  <a:srgbClr val="56C3D0"/>
                </a:solidFill>
                <a:prstDash val="solid"/>
                <a:miter/>
              </a:ln>
            </p:spPr>
          </p:sp>
          <p:sp>
            <p:nvSpPr>
              <p:cNvPr name="TextBox 12" id="12"/>
              <p:cNvSpPr txBox="true"/>
              <p:nvPr/>
            </p:nvSpPr>
            <p:spPr>
              <a:xfrm>
                <a:off x="0" y="-47625"/>
                <a:ext cx="4565945" cy="1003445"/>
              </a:xfrm>
              <a:prstGeom prst="rect">
                <a:avLst/>
              </a:prstGeom>
            </p:spPr>
            <p:txBody>
              <a:bodyPr anchor="ctr" rtlCol="false" tIns="50800" lIns="50800" bIns="50800" rIns="50800"/>
              <a:lstStyle/>
              <a:p>
                <a:pPr algn="ctr">
                  <a:lnSpc>
                    <a:spcPts val="2659"/>
                  </a:lnSpc>
                </a:pPr>
              </a:p>
            </p:txBody>
          </p:sp>
        </p:grpSp>
      </p:grpSp>
      <p:sp>
        <p:nvSpPr>
          <p:cNvPr name="Freeform 13" id="13"/>
          <p:cNvSpPr/>
          <p:nvPr/>
        </p:nvSpPr>
        <p:spPr>
          <a:xfrm flipH="false" flipV="false" rot="0">
            <a:off x="6532753" y="7607380"/>
            <a:ext cx="2679620" cy="2679620"/>
          </a:xfrm>
          <a:custGeom>
            <a:avLst/>
            <a:gdLst/>
            <a:ahLst/>
            <a:cxnLst/>
            <a:rect r="r" b="b" t="t" l="l"/>
            <a:pathLst>
              <a:path h="2679620" w="2679620">
                <a:moveTo>
                  <a:pt x="0" y="0"/>
                </a:moveTo>
                <a:lnTo>
                  <a:pt x="2679620" y="0"/>
                </a:lnTo>
                <a:lnTo>
                  <a:pt x="2679620" y="2679620"/>
                </a:lnTo>
                <a:lnTo>
                  <a:pt x="0" y="2679620"/>
                </a:lnTo>
                <a:lnTo>
                  <a:pt x="0" y="0"/>
                </a:lnTo>
                <a:close/>
              </a:path>
            </a:pathLst>
          </a:custGeom>
          <a:blipFill>
            <a:blip r:embed="rId4">
              <a:alphaModFix amt="43999"/>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12440925" y="7717742"/>
            <a:ext cx="2566239" cy="2569258"/>
          </a:xfrm>
          <a:custGeom>
            <a:avLst/>
            <a:gdLst/>
            <a:ahLst/>
            <a:cxnLst/>
            <a:rect r="r" b="b" t="t" l="l"/>
            <a:pathLst>
              <a:path h="2569258" w="2566239">
                <a:moveTo>
                  <a:pt x="0" y="0"/>
                </a:moveTo>
                <a:lnTo>
                  <a:pt x="2566239" y="0"/>
                </a:lnTo>
                <a:lnTo>
                  <a:pt x="2566239" y="2569258"/>
                </a:lnTo>
                <a:lnTo>
                  <a:pt x="0" y="2569258"/>
                </a:lnTo>
                <a:lnTo>
                  <a:pt x="0" y="0"/>
                </a:lnTo>
                <a:close/>
              </a:path>
            </a:pathLst>
          </a:custGeom>
          <a:blipFill>
            <a:blip r:embed="rId6">
              <a:alphaModFix amt="43999"/>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3682180" y="7717742"/>
            <a:ext cx="2567051" cy="2567051"/>
          </a:xfrm>
          <a:custGeom>
            <a:avLst/>
            <a:gdLst/>
            <a:ahLst/>
            <a:cxnLst/>
            <a:rect r="r" b="b" t="t" l="l"/>
            <a:pathLst>
              <a:path h="2567051" w="2567051">
                <a:moveTo>
                  <a:pt x="0" y="0"/>
                </a:moveTo>
                <a:lnTo>
                  <a:pt x="2567051" y="0"/>
                </a:lnTo>
                <a:lnTo>
                  <a:pt x="2567051" y="2567051"/>
                </a:lnTo>
                <a:lnTo>
                  <a:pt x="0" y="2567051"/>
                </a:lnTo>
                <a:lnTo>
                  <a:pt x="0" y="0"/>
                </a:lnTo>
                <a:close/>
              </a:path>
            </a:pathLst>
          </a:custGeom>
          <a:blipFill>
            <a:blip r:embed="rId8">
              <a:alphaModFix amt="43999"/>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9498123" y="7607380"/>
            <a:ext cx="2679620" cy="2679620"/>
          </a:xfrm>
          <a:custGeom>
            <a:avLst/>
            <a:gdLst/>
            <a:ahLst/>
            <a:cxnLst/>
            <a:rect r="r" b="b" t="t" l="l"/>
            <a:pathLst>
              <a:path h="2679620" w="2679620">
                <a:moveTo>
                  <a:pt x="0" y="0"/>
                </a:moveTo>
                <a:lnTo>
                  <a:pt x="2679621" y="0"/>
                </a:lnTo>
                <a:lnTo>
                  <a:pt x="2679621" y="2679620"/>
                </a:lnTo>
                <a:lnTo>
                  <a:pt x="0" y="2679620"/>
                </a:lnTo>
                <a:lnTo>
                  <a:pt x="0" y="0"/>
                </a:lnTo>
                <a:close/>
              </a:path>
            </a:pathLst>
          </a:custGeom>
          <a:blipFill>
            <a:blip r:embed="rId10">
              <a:alphaModFix amt="43999"/>
              <a:extLst>
                <a:ext uri="{96DAC541-7B7A-43D3-8B79-37D633B846F1}">
                  <asvg:svgBlip xmlns:asvg="http://schemas.microsoft.com/office/drawing/2016/SVG/main" r:embed="rId11"/>
                </a:ext>
              </a:extLst>
            </a:blip>
            <a:stretch>
              <a:fillRect l="0" t="0" r="0" b="0"/>
            </a:stretch>
          </a:blipFill>
        </p:spPr>
      </p:sp>
      <p:sp>
        <p:nvSpPr>
          <p:cNvPr name="TextBox 17" id="17"/>
          <p:cNvSpPr txBox="true"/>
          <p:nvPr/>
        </p:nvSpPr>
        <p:spPr>
          <a:xfrm rot="0">
            <a:off x="4676180" y="1318162"/>
            <a:ext cx="8935640" cy="1497228"/>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WHY WE TURN DATA INTO PICTURES</a:t>
            </a:r>
          </a:p>
        </p:txBody>
      </p:sp>
      <p:sp>
        <p:nvSpPr>
          <p:cNvPr name="TextBox 18" id="18"/>
          <p:cNvSpPr txBox="true"/>
          <p:nvPr/>
        </p:nvSpPr>
        <p:spPr>
          <a:xfrm rot="0">
            <a:off x="1529284" y="3692241"/>
            <a:ext cx="15229433" cy="3554700"/>
          </a:xfrm>
          <a:prstGeom prst="rect">
            <a:avLst/>
          </a:prstGeom>
        </p:spPr>
        <p:txBody>
          <a:bodyPr anchor="t" rtlCol="false" tIns="0" lIns="0" bIns="0" rIns="0">
            <a:spAutoFit/>
          </a:bodyPr>
          <a:lstStyle/>
          <a:p>
            <a:pPr algn="l">
              <a:lnSpc>
                <a:spcPts val="5671"/>
              </a:lnSpc>
            </a:pPr>
            <a:r>
              <a:rPr lang="en-US" sz="4051">
                <a:solidFill>
                  <a:srgbClr val="000000"/>
                </a:solidFill>
                <a:latin typeface="DG Jory"/>
                <a:ea typeface="DG Jory"/>
                <a:cs typeface="DG Jory"/>
                <a:sym typeface="DG Jory"/>
              </a:rPr>
              <a:t>Once the data is clean we convert that data to charts or in visual format because looking spreadsheet of that large data is impossible for human brain to understand that data. convert that data into colors and shape will help us understand that data easily like sales going up every january. so it is useful when data is in chart rather than giant table format.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375" y="5143500"/>
            <a:ext cx="3395283" cy="5186677"/>
          </a:xfrm>
          <a:custGeom>
            <a:avLst/>
            <a:gdLst/>
            <a:ahLst/>
            <a:cxnLst/>
            <a:rect r="r" b="b" t="t" l="l"/>
            <a:pathLst>
              <a:path h="5186677" w="3395283">
                <a:moveTo>
                  <a:pt x="0" y="0"/>
                </a:moveTo>
                <a:lnTo>
                  <a:pt x="3395283" y="0"/>
                </a:lnTo>
                <a:lnTo>
                  <a:pt x="3395283" y="5186677"/>
                </a:lnTo>
                <a:lnTo>
                  <a:pt x="0" y="5186677"/>
                </a:lnTo>
                <a:lnTo>
                  <a:pt x="0" y="0"/>
                </a:lnTo>
                <a:close/>
              </a:path>
            </a:pathLst>
          </a:custGeom>
          <a:blipFill>
            <a:blip r:embed="rId2">
              <a:extLst>
                <a:ext uri="{96DAC541-7B7A-43D3-8B79-37D633B846F1}">
                  <asvg:svgBlip xmlns:asvg="http://schemas.microsoft.com/office/drawing/2016/SVG/main" r:embed="rId3"/>
                </a:ext>
              </a:extLst>
            </a:blip>
            <a:stretch>
              <a:fillRect l="-116775" t="0" r="0" b="-28488"/>
            </a:stretch>
          </a:blipFill>
        </p:spPr>
      </p:sp>
      <p:sp>
        <p:nvSpPr>
          <p:cNvPr name="Freeform 3" id="3"/>
          <p:cNvSpPr/>
          <p:nvPr/>
        </p:nvSpPr>
        <p:spPr>
          <a:xfrm flipH="true" flipV="true" rot="0">
            <a:off x="14607933" y="87115"/>
            <a:ext cx="3742194" cy="5315397"/>
          </a:xfrm>
          <a:custGeom>
            <a:avLst/>
            <a:gdLst/>
            <a:ahLst/>
            <a:cxnLst/>
            <a:rect r="r" b="b" t="t" l="l"/>
            <a:pathLst>
              <a:path h="5315397" w="3742194">
                <a:moveTo>
                  <a:pt x="3742194" y="5315397"/>
                </a:moveTo>
                <a:lnTo>
                  <a:pt x="0" y="5315397"/>
                </a:lnTo>
                <a:lnTo>
                  <a:pt x="0" y="0"/>
                </a:lnTo>
                <a:lnTo>
                  <a:pt x="3742194" y="0"/>
                </a:lnTo>
                <a:lnTo>
                  <a:pt x="3742194" y="5315397"/>
                </a:lnTo>
                <a:close/>
              </a:path>
            </a:pathLst>
          </a:custGeom>
          <a:blipFill>
            <a:blip r:embed="rId2">
              <a:extLst>
                <a:ext uri="{96DAC541-7B7A-43D3-8B79-37D633B846F1}">
                  <asvg:svgBlip xmlns:asvg="http://schemas.microsoft.com/office/drawing/2016/SVG/main" r:embed="rId3"/>
                </a:ext>
              </a:extLst>
            </a:blip>
            <a:stretch>
              <a:fillRect l="-96679" t="0" r="0" b="-25376"/>
            </a:stretch>
          </a:blipFill>
        </p:spPr>
      </p:sp>
      <p:sp>
        <p:nvSpPr>
          <p:cNvPr name="Freeform 4" id="4"/>
          <p:cNvSpPr/>
          <p:nvPr/>
        </p:nvSpPr>
        <p:spPr>
          <a:xfrm flipH="false" flipV="false" rot="0">
            <a:off x="15163502" y="6704726"/>
            <a:ext cx="3121795" cy="3560622"/>
          </a:xfrm>
          <a:custGeom>
            <a:avLst/>
            <a:gdLst/>
            <a:ahLst/>
            <a:cxnLst/>
            <a:rect r="r" b="b" t="t" l="l"/>
            <a:pathLst>
              <a:path h="3560622" w="3121795">
                <a:moveTo>
                  <a:pt x="0" y="0"/>
                </a:moveTo>
                <a:lnTo>
                  <a:pt x="3121795" y="0"/>
                </a:lnTo>
                <a:lnTo>
                  <a:pt x="3121795" y="3560622"/>
                </a:lnTo>
                <a:lnTo>
                  <a:pt x="0" y="3560622"/>
                </a:lnTo>
                <a:lnTo>
                  <a:pt x="0" y="0"/>
                </a:lnTo>
                <a:close/>
              </a:path>
            </a:pathLst>
          </a:custGeom>
          <a:blipFill>
            <a:blip r:embed="rId2">
              <a:extLst>
                <a:ext uri="{96DAC541-7B7A-43D3-8B79-37D633B846F1}">
                  <asvg:svgBlip xmlns:asvg="http://schemas.microsoft.com/office/drawing/2016/SVG/main" r:embed="rId3"/>
                </a:ext>
              </a:extLst>
            </a:blip>
            <a:stretch>
              <a:fillRect l="0" t="0" r="-135766" b="-87165"/>
            </a:stretch>
          </a:blipFill>
          <a:ln cap="sq">
            <a:noFill/>
            <a:prstDash val="solid"/>
            <a:miter/>
          </a:ln>
        </p:spPr>
      </p:sp>
      <p:sp>
        <p:nvSpPr>
          <p:cNvPr name="Freeform 5" id="5"/>
          <p:cNvSpPr/>
          <p:nvPr/>
        </p:nvSpPr>
        <p:spPr>
          <a:xfrm flipH="true" flipV="true" rot="0">
            <a:off x="68205" y="87115"/>
            <a:ext cx="3611862" cy="3718381"/>
          </a:xfrm>
          <a:custGeom>
            <a:avLst/>
            <a:gdLst/>
            <a:ahLst/>
            <a:cxnLst/>
            <a:rect r="r" b="b" t="t" l="l"/>
            <a:pathLst>
              <a:path h="3718381" w="3611862">
                <a:moveTo>
                  <a:pt x="3611862" y="3718380"/>
                </a:moveTo>
                <a:lnTo>
                  <a:pt x="0" y="3718380"/>
                </a:lnTo>
                <a:lnTo>
                  <a:pt x="0" y="0"/>
                </a:lnTo>
                <a:lnTo>
                  <a:pt x="3611862" y="0"/>
                </a:lnTo>
                <a:lnTo>
                  <a:pt x="3611862" y="3718380"/>
                </a:lnTo>
                <a:close/>
              </a:path>
            </a:pathLst>
          </a:custGeom>
          <a:blipFill>
            <a:blip r:embed="rId2">
              <a:extLst>
                <a:ext uri="{96DAC541-7B7A-43D3-8B79-37D633B846F1}">
                  <asvg:svgBlip xmlns:asvg="http://schemas.microsoft.com/office/drawing/2016/SVG/main" r:embed="rId3"/>
                </a:ext>
              </a:extLst>
            </a:blip>
            <a:stretch>
              <a:fillRect l="0" t="0" r="-103776" b="-79224"/>
            </a:stretch>
          </a:blipFill>
          <a:ln cap="sq">
            <a:noFill/>
            <a:prstDash val="solid"/>
            <a:miter/>
          </a:ln>
        </p:spPr>
      </p:sp>
      <p:sp>
        <p:nvSpPr>
          <p:cNvPr name="TextBox 6" id="6"/>
          <p:cNvSpPr txBox="true"/>
          <p:nvPr/>
        </p:nvSpPr>
        <p:spPr>
          <a:xfrm rot="0">
            <a:off x="2252672" y="3560588"/>
            <a:ext cx="13782655" cy="5697712"/>
          </a:xfrm>
          <a:prstGeom prst="rect">
            <a:avLst/>
          </a:prstGeom>
        </p:spPr>
        <p:txBody>
          <a:bodyPr anchor="t" rtlCol="false" tIns="0" lIns="0" bIns="0" rIns="0">
            <a:spAutoFit/>
          </a:bodyPr>
          <a:lstStyle/>
          <a:p>
            <a:pPr algn="l">
              <a:lnSpc>
                <a:spcPts val="5677"/>
              </a:lnSpc>
            </a:pPr>
            <a:r>
              <a:rPr lang="en-US" sz="4055">
                <a:solidFill>
                  <a:srgbClr val="000000"/>
                </a:solidFill>
                <a:latin typeface="DG Jory"/>
                <a:ea typeface="DG Jory"/>
                <a:cs typeface="DG Jory"/>
                <a:sym typeface="DG Jory"/>
              </a:rPr>
              <a:t>After you clean the data you can’t just make any random chart, you have to think before choosing the chart like if you want show how something is changing over a period of time then you must choose line chart . But if you just want to check  or compare two groups like which flavor of soda is most popular then you have to plot bar chart that can give you what you want. So this is very important to select correct chart if you choose wrong chart it maybe give you wrong information or confusing for users to uderstand that chart.</a:t>
            </a:r>
          </a:p>
        </p:txBody>
      </p:sp>
      <p:grpSp>
        <p:nvGrpSpPr>
          <p:cNvPr name="Group 7" id="7"/>
          <p:cNvGrpSpPr/>
          <p:nvPr/>
        </p:nvGrpSpPr>
        <p:grpSpPr>
          <a:xfrm rot="0">
            <a:off x="4285334" y="829408"/>
            <a:ext cx="9717332" cy="2481941"/>
            <a:chOff x="0" y="0"/>
            <a:chExt cx="12956442" cy="3309254"/>
          </a:xfrm>
        </p:grpSpPr>
        <p:grpSp>
          <p:nvGrpSpPr>
            <p:cNvPr name="Group 8" id="8"/>
            <p:cNvGrpSpPr/>
            <p:nvPr/>
          </p:nvGrpSpPr>
          <p:grpSpPr>
            <a:xfrm rot="0">
              <a:off x="564389" y="0"/>
              <a:ext cx="12077807" cy="3008820"/>
              <a:chOff x="0" y="0"/>
              <a:chExt cx="4151886" cy="1034317"/>
            </a:xfrm>
          </p:grpSpPr>
          <p:sp>
            <p:nvSpPr>
              <p:cNvPr name="Freeform 9" id="9"/>
              <p:cNvSpPr/>
              <p:nvPr/>
            </p:nvSpPr>
            <p:spPr>
              <a:xfrm flipH="false" flipV="false" rot="0">
                <a:off x="0" y="0"/>
                <a:ext cx="4151886" cy="1034317"/>
              </a:xfrm>
              <a:custGeom>
                <a:avLst/>
                <a:gdLst/>
                <a:ahLst/>
                <a:cxnLst/>
                <a:rect r="r" b="b" t="t" l="l"/>
                <a:pathLst>
                  <a:path h="1034317" w="4151886">
                    <a:moveTo>
                      <a:pt x="4151886" y="0"/>
                    </a:moveTo>
                    <a:lnTo>
                      <a:pt x="0" y="0"/>
                    </a:lnTo>
                    <a:lnTo>
                      <a:pt x="0" y="846357"/>
                    </a:lnTo>
                    <a:lnTo>
                      <a:pt x="157480" y="846357"/>
                    </a:lnTo>
                    <a:lnTo>
                      <a:pt x="157480" y="1034317"/>
                    </a:lnTo>
                    <a:lnTo>
                      <a:pt x="463550" y="846357"/>
                    </a:lnTo>
                    <a:lnTo>
                      <a:pt x="4151886" y="846357"/>
                    </a:lnTo>
                    <a:lnTo>
                      <a:pt x="4151886" y="0"/>
                    </a:lnTo>
                    <a:close/>
                  </a:path>
                </a:pathLst>
              </a:custGeom>
              <a:solidFill>
                <a:srgbClr val="9BDAE9"/>
              </a:solidFill>
              <a:ln cap="sq">
                <a:noFill/>
                <a:prstDash val="solid"/>
                <a:miter/>
              </a:ln>
            </p:spPr>
          </p:sp>
          <p:sp>
            <p:nvSpPr>
              <p:cNvPr name="TextBox 10" id="10"/>
              <p:cNvSpPr txBox="true"/>
              <p:nvPr/>
            </p:nvSpPr>
            <p:spPr>
              <a:xfrm>
                <a:off x="0" y="-47625"/>
                <a:ext cx="4151886" cy="891442"/>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564389" y="300434"/>
              <a:ext cx="12077807" cy="3008820"/>
              <a:chOff x="0" y="0"/>
              <a:chExt cx="4151886" cy="1034317"/>
            </a:xfrm>
          </p:grpSpPr>
          <p:sp>
            <p:nvSpPr>
              <p:cNvPr name="Freeform 12" id="12"/>
              <p:cNvSpPr/>
              <p:nvPr/>
            </p:nvSpPr>
            <p:spPr>
              <a:xfrm flipH="false" flipV="false" rot="0">
                <a:off x="0" y="0"/>
                <a:ext cx="4151886" cy="1034317"/>
              </a:xfrm>
              <a:custGeom>
                <a:avLst/>
                <a:gdLst/>
                <a:ahLst/>
                <a:cxnLst/>
                <a:rect r="r" b="b" t="t" l="l"/>
                <a:pathLst>
                  <a:path h="1034317" w="4151886">
                    <a:moveTo>
                      <a:pt x="4151886" y="0"/>
                    </a:moveTo>
                    <a:lnTo>
                      <a:pt x="0" y="0"/>
                    </a:lnTo>
                    <a:lnTo>
                      <a:pt x="0" y="846357"/>
                    </a:lnTo>
                    <a:lnTo>
                      <a:pt x="157480" y="846357"/>
                    </a:lnTo>
                    <a:lnTo>
                      <a:pt x="157480" y="1034317"/>
                    </a:lnTo>
                    <a:lnTo>
                      <a:pt x="463550" y="846357"/>
                    </a:lnTo>
                    <a:lnTo>
                      <a:pt x="4151886" y="846357"/>
                    </a:lnTo>
                    <a:lnTo>
                      <a:pt x="4151886" y="0"/>
                    </a:lnTo>
                    <a:close/>
                  </a:path>
                </a:pathLst>
              </a:custGeom>
              <a:ln w="66675" cap="sq">
                <a:solidFill>
                  <a:srgbClr val="56C3D0"/>
                </a:solidFill>
                <a:prstDash val="solid"/>
                <a:miter/>
              </a:ln>
            </p:spPr>
          </p:sp>
          <p:sp>
            <p:nvSpPr>
              <p:cNvPr name="TextBox 13" id="13"/>
              <p:cNvSpPr txBox="true"/>
              <p:nvPr/>
            </p:nvSpPr>
            <p:spPr>
              <a:xfrm>
                <a:off x="0" y="-47625"/>
                <a:ext cx="4151886" cy="891442"/>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0" y="593940"/>
              <a:ext cx="12956442" cy="1996304"/>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PICKING THE BEST CHART FOR THE JOB</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3144673" y="-42544"/>
            <a:ext cx="5140625" cy="7769743"/>
          </a:xfrm>
          <a:custGeom>
            <a:avLst/>
            <a:gdLst/>
            <a:ahLst/>
            <a:cxnLst/>
            <a:rect r="r" b="b" t="t" l="l"/>
            <a:pathLst>
              <a:path h="7769743" w="5140625">
                <a:moveTo>
                  <a:pt x="5140624" y="7769742"/>
                </a:moveTo>
                <a:lnTo>
                  <a:pt x="0" y="7769742"/>
                </a:lnTo>
                <a:lnTo>
                  <a:pt x="0" y="0"/>
                </a:lnTo>
                <a:lnTo>
                  <a:pt x="5140624" y="0"/>
                </a:lnTo>
                <a:lnTo>
                  <a:pt x="5140624" y="7769742"/>
                </a:lnTo>
                <a:close/>
              </a:path>
            </a:pathLst>
          </a:custGeom>
          <a:blipFill>
            <a:blip r:embed="rId2">
              <a:extLst>
                <a:ext uri="{96DAC541-7B7A-43D3-8B79-37D633B846F1}">
                  <asvg:svgBlip xmlns:asvg="http://schemas.microsoft.com/office/drawing/2016/SVG/main" r:embed="rId3"/>
                </a:ext>
              </a:extLst>
            </a:blip>
            <a:stretch>
              <a:fillRect l="-80677" t="0" r="0" b="-8238"/>
            </a:stretch>
          </a:blipFill>
        </p:spPr>
      </p:sp>
      <p:sp>
        <p:nvSpPr>
          <p:cNvPr name="Freeform 3" id="3"/>
          <p:cNvSpPr/>
          <p:nvPr/>
        </p:nvSpPr>
        <p:spPr>
          <a:xfrm flipH="false" flipV="false" rot="0">
            <a:off x="14607933" y="8049787"/>
            <a:ext cx="3612535" cy="2280390"/>
          </a:xfrm>
          <a:custGeom>
            <a:avLst/>
            <a:gdLst/>
            <a:ahLst/>
            <a:cxnLst/>
            <a:rect r="r" b="b" t="t" l="l"/>
            <a:pathLst>
              <a:path h="2280390" w="3612535">
                <a:moveTo>
                  <a:pt x="0" y="0"/>
                </a:moveTo>
                <a:lnTo>
                  <a:pt x="3612535" y="0"/>
                </a:lnTo>
                <a:lnTo>
                  <a:pt x="3612535" y="2280390"/>
                </a:lnTo>
                <a:lnTo>
                  <a:pt x="0" y="2280390"/>
                </a:lnTo>
                <a:lnTo>
                  <a:pt x="0" y="0"/>
                </a:lnTo>
                <a:close/>
              </a:path>
            </a:pathLst>
          </a:custGeom>
          <a:blipFill>
            <a:blip r:embed="rId2">
              <a:extLst>
                <a:ext uri="{96DAC541-7B7A-43D3-8B79-37D633B846F1}">
                  <asvg:svgBlip xmlns:asvg="http://schemas.microsoft.com/office/drawing/2016/SVG/main" r:embed="rId3"/>
                </a:ext>
              </a:extLst>
            </a:blip>
            <a:stretch>
              <a:fillRect l="0" t="0" r="-103738" b="-192242"/>
            </a:stretch>
          </a:blipFill>
          <a:ln cap="sq">
            <a:noFill/>
            <a:prstDash val="solid"/>
            <a:miter/>
          </a:ln>
        </p:spPr>
      </p:sp>
      <p:sp>
        <p:nvSpPr>
          <p:cNvPr name="Freeform 4" id="4"/>
          <p:cNvSpPr/>
          <p:nvPr/>
        </p:nvSpPr>
        <p:spPr>
          <a:xfrm flipH="true" flipV="false" rot="0">
            <a:off x="8303269" y="8738243"/>
            <a:ext cx="7360133" cy="1591935"/>
          </a:xfrm>
          <a:custGeom>
            <a:avLst/>
            <a:gdLst/>
            <a:ahLst/>
            <a:cxnLst/>
            <a:rect r="r" b="b" t="t" l="l"/>
            <a:pathLst>
              <a:path h="1591935" w="7360133">
                <a:moveTo>
                  <a:pt x="7360133" y="0"/>
                </a:moveTo>
                <a:lnTo>
                  <a:pt x="0" y="0"/>
                </a:lnTo>
                <a:lnTo>
                  <a:pt x="0" y="1591934"/>
                </a:lnTo>
                <a:lnTo>
                  <a:pt x="7360133" y="1591934"/>
                </a:lnTo>
                <a:lnTo>
                  <a:pt x="7360133" y="0"/>
                </a:lnTo>
                <a:close/>
              </a:path>
            </a:pathLst>
          </a:custGeom>
          <a:blipFill>
            <a:blip r:embed="rId2">
              <a:extLst>
                <a:ext uri="{96DAC541-7B7A-43D3-8B79-37D633B846F1}">
                  <asvg:svgBlip xmlns:asvg="http://schemas.microsoft.com/office/drawing/2016/SVG/main" r:embed="rId3"/>
                </a:ext>
              </a:extLst>
            </a:blip>
            <a:stretch>
              <a:fillRect l="0" t="0" r="0" b="-318626"/>
            </a:stretch>
          </a:blipFill>
          <a:ln cap="sq">
            <a:noFill/>
            <a:prstDash val="solid"/>
            <a:miter/>
          </a:ln>
        </p:spPr>
      </p:sp>
      <p:sp>
        <p:nvSpPr>
          <p:cNvPr name="TextBox 5" id="5"/>
          <p:cNvSpPr txBox="true"/>
          <p:nvPr/>
        </p:nvSpPr>
        <p:spPr>
          <a:xfrm rot="0">
            <a:off x="759851" y="3663911"/>
            <a:ext cx="14459402" cy="4342465"/>
          </a:xfrm>
          <a:prstGeom prst="rect">
            <a:avLst/>
          </a:prstGeom>
        </p:spPr>
        <p:txBody>
          <a:bodyPr anchor="t" rtlCol="false" tIns="0" lIns="0" bIns="0" rIns="0">
            <a:spAutoFit/>
          </a:bodyPr>
          <a:lstStyle/>
          <a:p>
            <a:pPr algn="l">
              <a:lnSpc>
                <a:spcPts val="5777"/>
              </a:lnSpc>
            </a:pPr>
            <a:r>
              <a:rPr lang="en-US" sz="4126">
                <a:solidFill>
                  <a:srgbClr val="000000"/>
                </a:solidFill>
                <a:latin typeface="DG Jory"/>
                <a:ea typeface="DG Jory"/>
                <a:cs typeface="DG Jory"/>
                <a:sym typeface="DG Jory"/>
              </a:rPr>
              <a:t>A good chart should be simple and easy for user eyes to understand the data. You should not use 20 colors or add bunch of extra decoration like 3D effects that distract user from the actual info.</a:t>
            </a:r>
          </a:p>
          <a:p>
            <a:pPr algn="l">
              <a:lnSpc>
                <a:spcPts val="5777"/>
              </a:lnSpc>
            </a:pPr>
            <a:r>
              <a:rPr lang="en-US" sz="4126">
                <a:solidFill>
                  <a:srgbClr val="000000"/>
                </a:solidFill>
                <a:latin typeface="DG Jory"/>
                <a:ea typeface="DG Jory"/>
                <a:cs typeface="DG Jory"/>
                <a:sym typeface="DG Jory"/>
              </a:rPr>
              <a:t>The most important thing to add clear X and Y label to your chart and also add appropriate title to your chart that helps the user to understand what kind of data they are looking.</a:t>
            </a:r>
          </a:p>
        </p:txBody>
      </p:sp>
      <p:grpSp>
        <p:nvGrpSpPr>
          <p:cNvPr name="Group 6" id="6"/>
          <p:cNvGrpSpPr/>
          <p:nvPr/>
        </p:nvGrpSpPr>
        <p:grpSpPr>
          <a:xfrm rot="0">
            <a:off x="406480" y="1028700"/>
            <a:ext cx="13635217" cy="1915506"/>
            <a:chOff x="0" y="0"/>
            <a:chExt cx="18180289" cy="2554008"/>
          </a:xfrm>
        </p:grpSpPr>
        <p:grpSp>
          <p:nvGrpSpPr>
            <p:cNvPr name="Group 7" id="7"/>
            <p:cNvGrpSpPr/>
            <p:nvPr/>
          </p:nvGrpSpPr>
          <p:grpSpPr>
            <a:xfrm rot="0">
              <a:off x="0" y="0"/>
              <a:ext cx="17759035" cy="2364429"/>
              <a:chOff x="0" y="0"/>
              <a:chExt cx="6104874" cy="812800"/>
            </a:xfrm>
          </p:grpSpPr>
          <p:sp>
            <p:nvSpPr>
              <p:cNvPr name="Freeform 8" id="8"/>
              <p:cNvSpPr/>
              <p:nvPr/>
            </p:nvSpPr>
            <p:spPr>
              <a:xfrm flipH="false" flipV="false" rot="0">
                <a:off x="0" y="0"/>
                <a:ext cx="6104874" cy="812800"/>
              </a:xfrm>
              <a:custGeom>
                <a:avLst/>
                <a:gdLst/>
                <a:ahLst/>
                <a:cxnLst/>
                <a:rect r="r" b="b" t="t" l="l"/>
                <a:pathLst>
                  <a:path h="812800" w="6104874">
                    <a:moveTo>
                      <a:pt x="6104874" y="0"/>
                    </a:moveTo>
                    <a:lnTo>
                      <a:pt x="0" y="0"/>
                    </a:lnTo>
                    <a:lnTo>
                      <a:pt x="0" y="624840"/>
                    </a:lnTo>
                    <a:lnTo>
                      <a:pt x="157480" y="624840"/>
                    </a:lnTo>
                    <a:lnTo>
                      <a:pt x="157480" y="812800"/>
                    </a:lnTo>
                    <a:lnTo>
                      <a:pt x="463550" y="624840"/>
                    </a:lnTo>
                    <a:lnTo>
                      <a:pt x="6104874" y="624840"/>
                    </a:lnTo>
                    <a:lnTo>
                      <a:pt x="6104874" y="0"/>
                    </a:lnTo>
                    <a:close/>
                  </a:path>
                </a:pathLst>
              </a:custGeom>
              <a:solidFill>
                <a:srgbClr val="9BDAE9"/>
              </a:solidFill>
              <a:ln cap="sq">
                <a:noFill/>
                <a:prstDash val="solid"/>
                <a:miter/>
              </a:ln>
            </p:spPr>
          </p:sp>
          <p:sp>
            <p:nvSpPr>
              <p:cNvPr name="TextBox 9" id="9"/>
              <p:cNvSpPr txBox="true"/>
              <p:nvPr/>
            </p:nvSpPr>
            <p:spPr>
              <a:xfrm>
                <a:off x="0" y="-47625"/>
                <a:ext cx="6104874" cy="66992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421254" y="189578"/>
              <a:ext cx="17759035" cy="2364429"/>
              <a:chOff x="0" y="0"/>
              <a:chExt cx="6104874" cy="812800"/>
            </a:xfrm>
          </p:grpSpPr>
          <p:sp>
            <p:nvSpPr>
              <p:cNvPr name="Freeform 11" id="11"/>
              <p:cNvSpPr/>
              <p:nvPr/>
            </p:nvSpPr>
            <p:spPr>
              <a:xfrm flipH="false" flipV="false" rot="0">
                <a:off x="0" y="0"/>
                <a:ext cx="6104874" cy="812800"/>
              </a:xfrm>
              <a:custGeom>
                <a:avLst/>
                <a:gdLst/>
                <a:ahLst/>
                <a:cxnLst/>
                <a:rect r="r" b="b" t="t" l="l"/>
                <a:pathLst>
                  <a:path h="812800" w="6104874">
                    <a:moveTo>
                      <a:pt x="6104874" y="0"/>
                    </a:moveTo>
                    <a:lnTo>
                      <a:pt x="0" y="0"/>
                    </a:lnTo>
                    <a:lnTo>
                      <a:pt x="0" y="624840"/>
                    </a:lnTo>
                    <a:lnTo>
                      <a:pt x="157480" y="624840"/>
                    </a:lnTo>
                    <a:lnTo>
                      <a:pt x="157480" y="812800"/>
                    </a:lnTo>
                    <a:lnTo>
                      <a:pt x="463550" y="624840"/>
                    </a:lnTo>
                    <a:lnTo>
                      <a:pt x="6104874" y="624840"/>
                    </a:lnTo>
                    <a:lnTo>
                      <a:pt x="6104874" y="0"/>
                    </a:lnTo>
                    <a:close/>
                  </a:path>
                </a:pathLst>
              </a:custGeom>
              <a:ln w="66675" cap="sq">
                <a:solidFill>
                  <a:srgbClr val="56C3D0"/>
                </a:solidFill>
                <a:prstDash val="solid"/>
                <a:miter/>
              </a:ln>
            </p:spPr>
          </p:sp>
          <p:sp>
            <p:nvSpPr>
              <p:cNvPr name="TextBox 12" id="12"/>
              <p:cNvSpPr txBox="true"/>
              <p:nvPr/>
            </p:nvSpPr>
            <p:spPr>
              <a:xfrm>
                <a:off x="0" y="-47625"/>
                <a:ext cx="6104874" cy="669925"/>
              </a:xfrm>
              <a:prstGeom prst="rect">
                <a:avLst/>
              </a:prstGeom>
            </p:spPr>
            <p:txBody>
              <a:bodyPr anchor="ctr" rtlCol="false" tIns="50800" lIns="50800" bIns="50800" rIns="50800"/>
              <a:lstStyle/>
              <a:p>
                <a:pPr algn="ctr">
                  <a:lnSpc>
                    <a:spcPts val="2659"/>
                  </a:lnSpc>
                </a:pPr>
              </a:p>
            </p:txBody>
          </p:sp>
        </p:grpSp>
      </p:grpSp>
      <p:sp>
        <p:nvSpPr>
          <p:cNvPr name="TextBox 13" id="13"/>
          <p:cNvSpPr txBox="true"/>
          <p:nvPr/>
        </p:nvSpPr>
        <p:spPr>
          <a:xfrm rot="0">
            <a:off x="759851" y="1612146"/>
            <a:ext cx="13062972" cy="748614"/>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MAKING YOUR CHARTS EASY TO READ</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375" y="4897467"/>
            <a:ext cx="3676692" cy="5367881"/>
          </a:xfrm>
          <a:custGeom>
            <a:avLst/>
            <a:gdLst/>
            <a:ahLst/>
            <a:cxnLst/>
            <a:rect r="r" b="b" t="t" l="l"/>
            <a:pathLst>
              <a:path h="5367881" w="3676692">
                <a:moveTo>
                  <a:pt x="0" y="0"/>
                </a:moveTo>
                <a:lnTo>
                  <a:pt x="3676692" y="0"/>
                </a:lnTo>
                <a:lnTo>
                  <a:pt x="3676692" y="5367881"/>
                </a:lnTo>
                <a:lnTo>
                  <a:pt x="0" y="5367881"/>
                </a:lnTo>
                <a:lnTo>
                  <a:pt x="0" y="0"/>
                </a:lnTo>
                <a:close/>
              </a:path>
            </a:pathLst>
          </a:custGeom>
          <a:blipFill>
            <a:blip r:embed="rId2">
              <a:extLst>
                <a:ext uri="{96DAC541-7B7A-43D3-8B79-37D633B846F1}">
                  <asvg:svgBlip xmlns:asvg="http://schemas.microsoft.com/office/drawing/2016/SVG/main" r:embed="rId3"/>
                </a:ext>
              </a:extLst>
            </a:blip>
            <a:stretch>
              <a:fillRect l="-100183" t="0" r="0" b="-24150"/>
            </a:stretch>
          </a:blipFill>
        </p:spPr>
      </p:sp>
      <p:sp>
        <p:nvSpPr>
          <p:cNvPr name="Freeform 3" id="3"/>
          <p:cNvSpPr/>
          <p:nvPr/>
        </p:nvSpPr>
        <p:spPr>
          <a:xfrm flipH="true" flipV="true" rot="0">
            <a:off x="14607933" y="22285"/>
            <a:ext cx="3677364" cy="5380227"/>
          </a:xfrm>
          <a:custGeom>
            <a:avLst/>
            <a:gdLst/>
            <a:ahLst/>
            <a:cxnLst/>
            <a:rect r="r" b="b" t="t" l="l"/>
            <a:pathLst>
              <a:path h="5380227" w="3677364">
                <a:moveTo>
                  <a:pt x="3677364" y="5380227"/>
                </a:moveTo>
                <a:lnTo>
                  <a:pt x="0" y="5380227"/>
                </a:lnTo>
                <a:lnTo>
                  <a:pt x="0" y="0"/>
                </a:lnTo>
                <a:lnTo>
                  <a:pt x="3677364" y="0"/>
                </a:lnTo>
                <a:lnTo>
                  <a:pt x="3677364" y="5380227"/>
                </a:lnTo>
                <a:close/>
              </a:path>
            </a:pathLst>
          </a:custGeom>
          <a:blipFill>
            <a:blip r:embed="rId2">
              <a:extLst>
                <a:ext uri="{96DAC541-7B7A-43D3-8B79-37D633B846F1}">
                  <asvg:svgBlip xmlns:asvg="http://schemas.microsoft.com/office/drawing/2016/SVG/main" r:embed="rId3"/>
                </a:ext>
              </a:extLst>
            </a:blip>
            <a:stretch>
              <a:fillRect l="-100146" t="0" r="0" b="-23865"/>
            </a:stretch>
          </a:blipFill>
        </p:spPr>
      </p:sp>
      <p:sp>
        <p:nvSpPr>
          <p:cNvPr name="Freeform 4" id="4"/>
          <p:cNvSpPr/>
          <p:nvPr/>
        </p:nvSpPr>
        <p:spPr>
          <a:xfrm flipH="false" flipV="false" rot="0">
            <a:off x="14757022" y="6029979"/>
            <a:ext cx="3463446" cy="4170539"/>
          </a:xfrm>
          <a:custGeom>
            <a:avLst/>
            <a:gdLst/>
            <a:ahLst/>
            <a:cxnLst/>
            <a:rect r="r" b="b" t="t" l="l"/>
            <a:pathLst>
              <a:path h="4170539" w="3463446">
                <a:moveTo>
                  <a:pt x="0" y="0"/>
                </a:moveTo>
                <a:lnTo>
                  <a:pt x="3463446" y="0"/>
                </a:lnTo>
                <a:lnTo>
                  <a:pt x="3463446" y="4170539"/>
                </a:lnTo>
                <a:lnTo>
                  <a:pt x="0" y="4170539"/>
                </a:lnTo>
                <a:lnTo>
                  <a:pt x="0" y="0"/>
                </a:lnTo>
                <a:close/>
              </a:path>
            </a:pathLst>
          </a:custGeom>
          <a:blipFill>
            <a:blip r:embed="rId2">
              <a:extLst>
                <a:ext uri="{96DAC541-7B7A-43D3-8B79-37D633B846F1}">
                  <asvg:svgBlip xmlns:asvg="http://schemas.microsoft.com/office/drawing/2016/SVG/main" r:embed="rId3"/>
                </a:ext>
              </a:extLst>
            </a:blip>
            <a:stretch>
              <a:fillRect l="0" t="0" r="-112509" b="-59793"/>
            </a:stretch>
          </a:blipFill>
          <a:ln cap="sq">
            <a:noFill/>
            <a:prstDash val="solid"/>
            <a:miter/>
          </a:ln>
        </p:spPr>
      </p:sp>
      <p:sp>
        <p:nvSpPr>
          <p:cNvPr name="Freeform 5" id="5"/>
          <p:cNvSpPr/>
          <p:nvPr/>
        </p:nvSpPr>
        <p:spPr>
          <a:xfrm flipH="true" flipV="true" rot="0">
            <a:off x="68205" y="87115"/>
            <a:ext cx="3760951" cy="4169906"/>
          </a:xfrm>
          <a:custGeom>
            <a:avLst/>
            <a:gdLst/>
            <a:ahLst/>
            <a:cxnLst/>
            <a:rect r="r" b="b" t="t" l="l"/>
            <a:pathLst>
              <a:path h="4169906" w="3760951">
                <a:moveTo>
                  <a:pt x="3760951" y="4169906"/>
                </a:moveTo>
                <a:lnTo>
                  <a:pt x="0" y="4169906"/>
                </a:lnTo>
                <a:lnTo>
                  <a:pt x="0" y="0"/>
                </a:lnTo>
                <a:lnTo>
                  <a:pt x="3760951" y="0"/>
                </a:lnTo>
                <a:lnTo>
                  <a:pt x="3760951" y="4169906"/>
                </a:lnTo>
                <a:close/>
              </a:path>
            </a:pathLst>
          </a:custGeom>
          <a:blipFill>
            <a:blip r:embed="rId2">
              <a:extLst>
                <a:ext uri="{96DAC541-7B7A-43D3-8B79-37D633B846F1}">
                  <asvg:svgBlip xmlns:asvg="http://schemas.microsoft.com/office/drawing/2016/SVG/main" r:embed="rId3"/>
                </a:ext>
              </a:extLst>
            </a:blip>
            <a:stretch>
              <a:fillRect l="0" t="0" r="-95698" b="-59818"/>
            </a:stretch>
          </a:blipFill>
          <a:ln cap="sq">
            <a:noFill/>
            <a:prstDash val="solid"/>
            <a:miter/>
          </a:ln>
        </p:spPr>
      </p:sp>
      <p:sp>
        <p:nvSpPr>
          <p:cNvPr name="TextBox 6" id="6"/>
          <p:cNvSpPr txBox="true"/>
          <p:nvPr/>
        </p:nvSpPr>
        <p:spPr>
          <a:xfrm rot="0">
            <a:off x="4751838" y="4153209"/>
            <a:ext cx="8784324" cy="1261363"/>
          </a:xfrm>
          <a:prstGeom prst="rect">
            <a:avLst/>
          </a:prstGeom>
        </p:spPr>
        <p:txBody>
          <a:bodyPr anchor="t" rtlCol="false" tIns="0" lIns="0" bIns="0" rIns="0">
            <a:spAutoFit/>
          </a:bodyPr>
          <a:lstStyle/>
          <a:p>
            <a:pPr algn="ctr" marL="0" indent="0" lvl="0">
              <a:lnSpc>
                <a:spcPts val="10012"/>
              </a:lnSpc>
              <a:spcBef>
                <a:spcPct val="0"/>
              </a:spcBef>
            </a:pPr>
            <a:r>
              <a:rPr lang="en-US" b="true" sz="8344" strike="noStrike" u="none">
                <a:solidFill>
                  <a:srgbClr val="000000"/>
                </a:solidFill>
                <a:latin typeface="League Spartan"/>
                <a:ea typeface="League Spartan"/>
                <a:cs typeface="League Spartan"/>
                <a:sym typeface="League Spartan"/>
              </a:rPr>
              <a:t>THANK YOU</a:t>
            </a:r>
          </a:p>
        </p:txBody>
      </p:sp>
      <p:sp>
        <p:nvSpPr>
          <p:cNvPr name="TextBox 7" id="7"/>
          <p:cNvSpPr txBox="true"/>
          <p:nvPr/>
        </p:nvSpPr>
        <p:spPr>
          <a:xfrm rot="0">
            <a:off x="6589181" y="5411320"/>
            <a:ext cx="5109638" cy="1472210"/>
          </a:xfrm>
          <a:prstGeom prst="rect">
            <a:avLst/>
          </a:prstGeom>
        </p:spPr>
        <p:txBody>
          <a:bodyPr anchor="t" rtlCol="false" tIns="0" lIns="0" bIns="0" rIns="0">
            <a:spAutoFit/>
          </a:bodyPr>
          <a:lstStyle/>
          <a:p>
            <a:pPr algn="ctr">
              <a:lnSpc>
                <a:spcPts val="5759"/>
              </a:lnSpc>
            </a:pPr>
            <a:r>
              <a:rPr lang="en-US" sz="4799">
                <a:solidFill>
                  <a:srgbClr val="000000"/>
                </a:solidFill>
                <a:latin typeface="DG Jory"/>
                <a:ea typeface="DG Jory"/>
                <a:cs typeface="DG Jory"/>
                <a:sym typeface="DG Jory"/>
              </a:rPr>
              <a:t>By Aryan</a:t>
            </a:r>
          </a:p>
          <a:p>
            <a:pPr algn="ctr">
              <a:lnSpc>
                <a:spcPts val="5759"/>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DAHExirPxYA</dc:identifier>
  <dcterms:modified xsi:type="dcterms:W3CDTF">2011-08-01T06:04:30Z</dcterms:modified>
  <cp:revision>1</cp:revision>
  <dc:title>Blue and White Minimalist Project Presentation</dc:title>
</cp:coreProperties>
</file>